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8A1"/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54821-979D-D69C-908E-6A81EBDD33B0}" v="861" dt="2025-11-24T14:13:45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13118" y="1397208"/>
            <a:ext cx="9165458" cy="14537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 dirty="0">
                <a:solidFill>
                  <a:srgbClr val="FFFFFF"/>
                </a:solidFill>
              </a:rPr>
              <a:t>Experimental Study of Deep Learning </a:t>
            </a:r>
            <a:endParaRPr lang="en-US" sz="3588" b="1" dirty="0">
              <a:solidFill>
                <a:srgbClr val="FFFFFF"/>
              </a:solidFill>
            </a:endParaRPr>
          </a:p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 dirty="0">
                <a:solidFill>
                  <a:srgbClr val="FFFFFF"/>
                </a:solidFill>
              </a:rPr>
              <a:t>Models for Short-Term Crypto Price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16" y="3343275"/>
            <a:ext cx="948666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0"/>
              </a:spcAft>
            </a:pPr>
            <a:r>
              <a:rPr sz="1674" b="1" dirty="0">
                <a:solidFill>
                  <a:srgbClr val="E3F2FD"/>
                </a:solidFill>
              </a:rPr>
              <a:t>A Comparative Analysis of Neural Architectures for Bitcoin and Ethereum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2796" y="4162424"/>
            <a:ext cx="388610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315" b="0" dirty="0">
                <a:solidFill>
                  <a:srgbClr val="BBDEFB"/>
                </a:solidFill>
              </a:rPr>
              <a:t>Waseem Mohamad (Student ID: g202401140)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9469" y="4524374"/>
            <a:ext cx="375275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90CAF9"/>
                </a:solidFill>
              </a:rPr>
              <a:t>King Fahd University of Petroleum and Minerals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8559" y="4762500"/>
            <a:ext cx="292410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90CAF9"/>
                </a:solidFill>
              </a:rPr>
              <a:t>Supervised by: Dr. Muzammil Behzad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4401" y="5461437"/>
            <a:ext cx="342891" cy="1832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Introduction: Cryptocurrency Market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386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D47A1"/>
                </a:solidFill>
              </a:rPr>
              <a:t> Market Features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251585"/>
            <a:ext cx="228594" cy="1257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628775"/>
            <a:ext cx="2552636" cy="942975"/>
          </a:xfrm>
          <a:prstGeom prst="roundRect">
            <a:avLst>
              <a:gd name="adj" fmla="val 808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61286" y="2034222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8813" y="1860838"/>
            <a:ext cx="2420556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0D47A1"/>
                </a:solidFill>
              </a:rPr>
              <a:t>Extreme Volatility</a:t>
            </a:r>
            <a:r>
              <a:rPr sz="1196" b="0" dirty="0">
                <a:solidFill>
                  <a:srgbClr val="2C3E50"/>
                </a:solidFill>
              </a:rPr>
              <a:t> - Daily swings exceeding 10% common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716" y="1628775"/>
            <a:ext cx="2552636" cy="942975"/>
          </a:xfrm>
          <a:prstGeom prst="roundRect">
            <a:avLst>
              <a:gd name="adj" fmla="val 808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2947269" y="2034222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84796" y="1860838"/>
            <a:ext cx="2420555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0D47A1"/>
                </a:solidFill>
              </a:rPr>
              <a:t>Nonlinearity</a:t>
            </a:r>
            <a:r>
              <a:rPr sz="1196" b="0" dirty="0">
                <a:solidFill>
                  <a:srgbClr val="2C3E50"/>
                </a:solidFill>
              </a:rPr>
              <a:t> - Complex price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2714625"/>
            <a:ext cx="2552636" cy="704849"/>
          </a:xfrm>
          <a:prstGeom prst="roundRect">
            <a:avLst>
              <a:gd name="adj" fmla="val 1081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380349" y="3001009"/>
            <a:ext cx="704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813" y="2827625"/>
            <a:ext cx="2420556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0D47A1"/>
                </a:solidFill>
              </a:rPr>
              <a:t>24/7 Trading</a:t>
            </a:r>
            <a:r>
              <a:rPr sz="1196" b="0" dirty="0">
                <a:solidFill>
                  <a:srgbClr val="2C3E50"/>
                </a:solidFill>
              </a:rPr>
              <a:t> - Continuous global markets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2716" y="2714625"/>
            <a:ext cx="2552636" cy="704849"/>
          </a:xfrm>
          <a:prstGeom prst="roundRect">
            <a:avLst>
              <a:gd name="adj" fmla="val 1081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066332" y="3001009"/>
            <a:ext cx="704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84796" y="2919637"/>
            <a:ext cx="2420556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0D47A1"/>
                </a:solidFill>
              </a:rPr>
              <a:t>Decentralized</a:t>
            </a:r>
            <a:r>
              <a:rPr sz="1196" b="0" dirty="0">
                <a:solidFill>
                  <a:srgbClr val="2C3E50"/>
                </a:solidFill>
              </a:rPr>
              <a:t> - No central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3" y="3705224"/>
            <a:ext cx="52386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 dirty="0">
                <a:solidFill>
                  <a:srgbClr val="0D47A1"/>
                </a:solidFill>
              </a:rPr>
              <a:t> </a:t>
            </a:r>
            <a:r>
              <a:rPr sz="1104" dirty="0"/>
              <a:t>  </a:t>
            </a:r>
            <a:r>
              <a:rPr sz="1674" b="1" dirty="0">
                <a:solidFill>
                  <a:srgbClr val="0D47A1"/>
                </a:solidFill>
              </a:rPr>
              <a:t> Behavioral Factors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788092"/>
            <a:ext cx="228594" cy="17716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66733" y="4190999"/>
            <a:ext cx="2552636" cy="704849"/>
          </a:xfrm>
          <a:prstGeom prst="roundRect">
            <a:avLst>
              <a:gd name="adj" fmla="val 1081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380349" y="4477383"/>
            <a:ext cx="704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8813" y="4303999"/>
            <a:ext cx="2420556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0D47A1"/>
                </a:solidFill>
              </a:rPr>
              <a:t>Sentiment-driven</a:t>
            </a:r>
            <a:r>
              <a:rPr sz="1196" b="0" dirty="0">
                <a:solidFill>
                  <a:srgbClr val="2C3E50"/>
                </a:solidFill>
              </a:rPr>
              <a:t> - News &amp; social media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2716" y="4190999"/>
            <a:ext cx="2552636" cy="704849"/>
          </a:xfrm>
          <a:prstGeom prst="roundRect">
            <a:avLst>
              <a:gd name="adj" fmla="val 1081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066332" y="4477383"/>
            <a:ext cx="704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84796" y="4303999"/>
            <a:ext cx="2420556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0D47A1"/>
                </a:solidFill>
              </a:rPr>
              <a:t>Herding behavior</a:t>
            </a:r>
            <a:r>
              <a:rPr sz="1196" b="0" dirty="0">
                <a:solidFill>
                  <a:srgbClr val="2C3E50"/>
                </a:solidFill>
              </a:rPr>
              <a:t> - Group decision-making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5038724"/>
            <a:ext cx="5238619" cy="466724"/>
          </a:xfrm>
          <a:prstGeom prst="roundRect">
            <a:avLst>
              <a:gd name="adj" fmla="val 16326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99411" y="5206046"/>
            <a:ext cx="466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8813" y="5124674"/>
            <a:ext cx="5106539" cy="2948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0D47A1"/>
                </a:solidFill>
              </a:rPr>
              <a:t>Speculative nature</a:t>
            </a:r>
            <a:r>
              <a:rPr sz="1196" b="0" dirty="0">
                <a:solidFill>
                  <a:srgbClr val="2C3E50"/>
                </a:solidFill>
              </a:rPr>
              <a:t> - High risk/reward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1722" y="1143000"/>
            <a:ext cx="52386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 dirty="0">
                <a:solidFill>
                  <a:srgbClr val="0D47A1"/>
                </a:solidFill>
              </a:rPr>
              <a:t> </a:t>
            </a:r>
            <a:r>
              <a:rPr sz="1104" dirty="0"/>
              <a:t>  </a:t>
            </a:r>
            <a:r>
              <a:rPr sz="1674" b="1" dirty="0">
                <a:solidFill>
                  <a:srgbClr val="0D47A1"/>
                </a:solidFill>
              </a:rPr>
              <a:t> Forecasting Challenges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1722" y="1221581"/>
            <a:ext cx="228594" cy="185737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511722" y="1628775"/>
            <a:ext cx="2552636" cy="704849"/>
          </a:xfrm>
          <a:prstGeom prst="roundRect">
            <a:avLst>
              <a:gd name="adj" fmla="val 1081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225338" y="1915159"/>
            <a:ext cx="704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43802" y="1741775"/>
            <a:ext cx="2420555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0D47A1"/>
                </a:solidFill>
              </a:rPr>
              <a:t>Data accessibility</a:t>
            </a:r>
            <a:r>
              <a:rPr sz="1196" b="0" dirty="0">
                <a:solidFill>
                  <a:srgbClr val="2C3E50"/>
                </a:solidFill>
              </a:rPr>
              <a:t> - Limited public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97705" y="1628775"/>
            <a:ext cx="2552636" cy="704849"/>
          </a:xfrm>
          <a:prstGeom prst="roundRect">
            <a:avLst>
              <a:gd name="adj" fmla="val 1081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8911321" y="1915159"/>
            <a:ext cx="704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9785" y="1741775"/>
            <a:ext cx="2420555" cy="4788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0D47A1"/>
                </a:solidFill>
              </a:rPr>
              <a:t>Regime shifts</a:t>
            </a:r>
            <a:r>
              <a:rPr sz="1196" b="0" dirty="0">
                <a:solidFill>
                  <a:srgbClr val="2C3E50"/>
                </a:solidFill>
              </a:rPr>
              <a:t> - Sudden market changes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33" y="7124699"/>
            <a:ext cx="5238619" cy="466724"/>
          </a:xfrm>
          <a:prstGeom prst="roundRect">
            <a:avLst>
              <a:gd name="adj" fmla="val 16326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499411" y="7292021"/>
            <a:ext cx="4667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733" y="7124699"/>
            <a:ext cx="5238619" cy="4667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D47A1"/>
                </a:solidFill>
              </a:rPr>
              <a:t>Noise vs. Signal</a:t>
            </a:r>
            <a:r>
              <a:rPr sz="1196" b="0">
                <a:solidFill>
                  <a:srgbClr val="2C3E50"/>
                </a:solidFill>
              </a:rPr>
              <a:t> - Difficulty extracting patterns</a:t>
            </a:r>
          </a:p>
        </p:txBody>
      </p:sp>
    </p:spTree>
    <p:extLst>
      <p:ext uri="{BB962C8B-B14F-4D97-AF65-F5344CB8AC3E}">
        <p14:creationId xmlns:p14="http://schemas.microsoft.com/office/powerpoint/2010/main" val="67436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566" y="1143000"/>
            <a:ext cx="52386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D47A1"/>
                </a:solidFill>
              </a:rPr>
              <a:t> Research Problem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217294"/>
            <a:ext cx="228594" cy="1943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628775"/>
            <a:ext cx="5238619" cy="1619250"/>
          </a:xfrm>
          <a:prstGeom prst="roundRect">
            <a:avLst>
              <a:gd name="adj" fmla="val 4705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76852" y="2372360"/>
            <a:ext cx="1619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5327" y="1819275"/>
            <a:ext cx="481952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D47A1"/>
                </a:solidFill>
              </a:rPr>
              <a:t>Central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27" y="2257425"/>
            <a:ext cx="481952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How can deep learning models be designed, trained, and evaluated to forecast short-term cryptocurrency price movements using </a:t>
            </a:r>
            <a:r>
              <a:rPr sz="1196" b="1" dirty="0">
                <a:solidFill>
                  <a:srgbClr val="0D47A1"/>
                </a:solidFill>
              </a:rPr>
              <a:t>only publicly accessible datasets</a:t>
            </a:r>
            <a:r>
              <a:rPr sz="1196" b="0" dirty="0">
                <a:solidFill>
                  <a:srgbClr val="2C3E50"/>
                </a:solidFill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566" y="3533774"/>
            <a:ext cx="52386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D47A1"/>
                </a:solidFill>
              </a:rPr>
              <a:t> Research Objectives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608070"/>
            <a:ext cx="228594" cy="19430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6733" y="4019549"/>
            <a:ext cx="5238619" cy="1085850"/>
          </a:xfrm>
          <a:prstGeom prst="roundRect">
            <a:avLst>
              <a:gd name="adj" fmla="val 701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189848" y="4496434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03" y="4188142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9169" y="4162424"/>
            <a:ext cx="4543311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Construct </a:t>
            </a:r>
            <a:r>
              <a:rPr sz="1196" b="1" dirty="0">
                <a:solidFill>
                  <a:srgbClr val="0D47A1"/>
                </a:solidFill>
              </a:rPr>
              <a:t>reproducible multimodal dataset</a:t>
            </a:r>
            <a:r>
              <a:rPr sz="1196" b="0" dirty="0">
                <a:solidFill>
                  <a:srgbClr val="2C3E50"/>
                </a:solidFill>
              </a:rPr>
              <a:t> combining price history, technical indicators, news, and search trends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5248275"/>
            <a:ext cx="5238619" cy="819149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23199" y="5591809"/>
            <a:ext cx="819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703" y="541686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19169" y="5391150"/>
            <a:ext cx="4543311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Implement and evaluate </a:t>
            </a:r>
            <a:r>
              <a:rPr sz="1196" b="1" dirty="0">
                <a:solidFill>
                  <a:srgbClr val="0D47A1"/>
                </a:solidFill>
              </a:rPr>
              <a:t>diverse DL architectures</a:t>
            </a:r>
            <a:r>
              <a:rPr sz="1196" b="0" dirty="0">
                <a:solidFill>
                  <a:srgbClr val="2C3E50"/>
                </a:solidFill>
              </a:rPr>
              <a:t> (MLP, LSTM, CNN-LSTM, Transformer)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5708" y="4019549"/>
            <a:ext cx="5238619" cy="1085850"/>
          </a:xfrm>
          <a:prstGeom prst="roundRect">
            <a:avLst>
              <a:gd name="adj" fmla="val 701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848823" y="4496434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6678" y="4205287"/>
            <a:ext cx="228594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78144" y="4162424"/>
            <a:ext cx="4543311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Compare performance across </a:t>
            </a:r>
            <a:r>
              <a:rPr sz="1196" b="1">
                <a:solidFill>
                  <a:srgbClr val="0D47A1"/>
                </a:solidFill>
              </a:rPr>
              <a:t>multiple target formulations</a:t>
            </a:r>
            <a:r>
              <a:rPr sz="1196" b="0">
                <a:solidFill>
                  <a:srgbClr val="2C3E50"/>
                </a:solidFill>
              </a:rPr>
              <a:t> (regression, direction classification, local extrema)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7439024"/>
            <a:ext cx="5238619" cy="819149"/>
          </a:xfrm>
          <a:prstGeom prst="roundRect">
            <a:avLst>
              <a:gd name="adj" fmla="val 930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23199" y="7782558"/>
            <a:ext cx="819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7703" y="7610474"/>
            <a:ext cx="228594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19169" y="7581899"/>
            <a:ext cx="4543311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Assess how model complexity affects </a:t>
            </a:r>
            <a:r>
              <a:rPr sz="1196" b="1">
                <a:solidFill>
                  <a:srgbClr val="0D47A1"/>
                </a:solidFill>
              </a:rPr>
              <a:t>predictive stability</a:t>
            </a:r>
            <a:r>
              <a:rPr sz="1196" b="0">
                <a:solidFill>
                  <a:srgbClr val="2C3E50"/>
                </a:solidFill>
              </a:rPr>
              <a:t> during high volatility periods</a:t>
            </a:r>
          </a:p>
        </p:txBody>
      </p:sp>
    </p:spTree>
    <p:extLst>
      <p:ext uri="{BB962C8B-B14F-4D97-AF65-F5344CB8AC3E}">
        <p14:creationId xmlns:p14="http://schemas.microsoft.com/office/powerpoint/2010/main" val="323182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Literature Review: Evolution of Forecasting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0149" y="1130233"/>
            <a:ext cx="5005786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674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D47A1"/>
                </a:solidFill>
              </a:rPr>
              <a:t> Methodological Evolution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225867"/>
            <a:ext cx="228594" cy="1771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771650"/>
            <a:ext cx="1647783" cy="2390774"/>
          </a:xfrm>
          <a:prstGeom prst="roundRect">
            <a:avLst>
              <a:gd name="adj" fmla="val 9248"/>
            </a:avLst>
          </a:prstGeom>
          <a:solidFill>
            <a:srgbClr val="F5F7FA"/>
          </a:soli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520" y="1961561"/>
            <a:ext cx="1182124" cy="5155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 dirty="0">
                <a:solidFill>
                  <a:srgbClr val="0D47A1"/>
                </a:solidFill>
              </a:rPr>
              <a:t> </a:t>
            </a:r>
            <a:r>
              <a:rPr sz="1104" dirty="0"/>
              <a:t>  </a:t>
            </a:r>
            <a:r>
              <a:rPr sz="1315" b="1" dirty="0">
                <a:solidFill>
                  <a:srgbClr val="0D47A1"/>
                </a:solidFill>
              </a:rPr>
              <a:t> Classical Models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04" y="2149288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04" y="2636897"/>
            <a:ext cx="1362040" cy="132703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• ARIMA, GARCH, VAR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Linear relationships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Limited with volatility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4039" y="1771650"/>
            <a:ext cx="1647783" cy="2390774"/>
          </a:xfrm>
          <a:prstGeom prst="roundRect">
            <a:avLst>
              <a:gd name="adj" fmla="val 9248"/>
            </a:avLst>
          </a:prstGeom>
          <a:solidFill>
            <a:srgbClr val="F5F7FA"/>
          </a:soli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27410" y="1961561"/>
            <a:ext cx="1182123" cy="5155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D47A1"/>
                </a:solidFill>
              </a:rPr>
              <a:t> ML Approaches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6910" y="2166097"/>
            <a:ext cx="190495" cy="1064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36910" y="2739489"/>
            <a:ext cx="1362040" cy="11218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• SVM, Random Forest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Nonlinear patterns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Feature engineering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5352" y="1765513"/>
            <a:ext cx="1647783" cy="2390774"/>
          </a:xfrm>
          <a:prstGeom prst="roundRect">
            <a:avLst>
              <a:gd name="adj" fmla="val 9248"/>
            </a:avLst>
          </a:prstGeom>
          <a:solidFill>
            <a:srgbClr val="F5F7FA"/>
          </a:soli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8139" y="1955424"/>
            <a:ext cx="1150374" cy="5155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D47A1"/>
                </a:solidFill>
              </a:rPr>
              <a:t> Deep Learning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8223" y="2137548"/>
            <a:ext cx="190495" cy="151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48223" y="2630760"/>
            <a:ext cx="1362040" cy="132703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• LSTM, CNN, Transformers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Temporal dependencies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Multimodal integration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006" y="4467157"/>
            <a:ext cx="5005786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D47A1"/>
                </a:solidFill>
              </a:rPr>
              <a:t> Limitations in Existing Research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756" y="4526755"/>
            <a:ext cx="228594" cy="18573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76756" y="4933949"/>
            <a:ext cx="2552636" cy="885825"/>
          </a:xfrm>
          <a:prstGeom prst="roundRect">
            <a:avLst>
              <a:gd name="adj" fmla="val 8602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299884" y="5310821"/>
            <a:ext cx="885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8836" y="5155903"/>
            <a:ext cx="2420556" cy="4419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2C3E50"/>
                </a:solidFill>
              </a:rPr>
              <a:t> </a:t>
            </a:r>
            <a:r>
              <a:rPr sz="1076" b="1" dirty="0">
                <a:solidFill>
                  <a:srgbClr val="0D47A1"/>
                </a:solidFill>
              </a:rPr>
              <a:t>Data Accessibility</a:t>
            </a:r>
            <a:r>
              <a:rPr sz="1076" b="0" dirty="0">
                <a:solidFill>
                  <a:srgbClr val="2C3E50"/>
                </a:solidFill>
              </a:rPr>
              <a:t> - Reliance on proprietary APIs (Twitter, Reddit)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9742" y="4937312"/>
            <a:ext cx="2552636" cy="885825"/>
          </a:xfrm>
          <a:prstGeom prst="roundRect">
            <a:avLst>
              <a:gd name="adj" fmla="val 8602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432870" y="5314184"/>
            <a:ext cx="885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41822" y="5159266"/>
            <a:ext cx="2420556" cy="4419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2C3E50"/>
                </a:solidFill>
              </a:rPr>
              <a:t> </a:t>
            </a:r>
            <a:r>
              <a:rPr sz="1076" b="1" dirty="0">
                <a:solidFill>
                  <a:srgbClr val="0D47A1"/>
                </a:solidFill>
              </a:rPr>
              <a:t>Model Instability</a:t>
            </a:r>
            <a:r>
              <a:rPr sz="1076" b="0" dirty="0">
                <a:solidFill>
                  <a:srgbClr val="2C3E50"/>
                </a:solidFill>
              </a:rPr>
              <a:t> - Poor performance during market shocks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756" y="5962649"/>
            <a:ext cx="2552636" cy="666750"/>
          </a:xfrm>
          <a:prstGeom prst="roundRect">
            <a:avLst>
              <a:gd name="adj" fmla="val 11428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09421" y="6229984"/>
            <a:ext cx="666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8836" y="6075066"/>
            <a:ext cx="2420556" cy="4419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2C3E50"/>
                </a:solidFill>
              </a:rPr>
              <a:t> </a:t>
            </a:r>
            <a:r>
              <a:rPr sz="1076" b="1" dirty="0">
                <a:solidFill>
                  <a:srgbClr val="0D47A1"/>
                </a:solidFill>
              </a:rPr>
              <a:t>Target Formulation</a:t>
            </a:r>
            <a:r>
              <a:rPr sz="1076" b="0" dirty="0">
                <a:solidFill>
                  <a:srgbClr val="2C3E50"/>
                </a:solidFill>
              </a:rPr>
              <a:t> - Focus on regression vs. classification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9742" y="5966012"/>
            <a:ext cx="2552636" cy="666750"/>
          </a:xfrm>
          <a:prstGeom prst="roundRect">
            <a:avLst>
              <a:gd name="adj" fmla="val 11428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4542407" y="6233347"/>
            <a:ext cx="666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41822" y="6078429"/>
            <a:ext cx="2420556" cy="4419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2C3E50"/>
                </a:solidFill>
              </a:rPr>
              <a:t> </a:t>
            </a:r>
            <a:r>
              <a:rPr sz="1076" b="1" dirty="0">
                <a:solidFill>
                  <a:srgbClr val="0D47A1"/>
                </a:solidFill>
              </a:rPr>
              <a:t>Reproducibility</a:t>
            </a:r>
            <a:r>
              <a:rPr sz="1076" b="0" dirty="0">
                <a:solidFill>
                  <a:srgbClr val="2C3E50"/>
                </a:solidFill>
              </a:rPr>
              <a:t> - Limited open-source implementations </a:t>
            </a:r>
          </a:p>
        </p:txBody>
      </p:sp>
    </p:spTree>
    <p:extLst>
      <p:ext uri="{BB962C8B-B14F-4D97-AF65-F5344CB8AC3E}">
        <p14:creationId xmlns:p14="http://schemas.microsoft.com/office/powerpoint/2010/main" val="911479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Methodology: Data Sources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649" y="1132417"/>
            <a:ext cx="4931703" cy="3746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D47A1"/>
                </a:solidFill>
              </a:rPr>
              <a:t> Publicly Accessible Data Sources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225867"/>
            <a:ext cx="228594" cy="1771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628775"/>
            <a:ext cx="2552636" cy="1009649"/>
          </a:xfrm>
          <a:prstGeom prst="roundRect">
            <a:avLst>
              <a:gd name="adj" fmla="val 754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27949" y="2067559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03" y="2070735"/>
            <a:ext cx="228594" cy="1257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19169" y="1771650"/>
            <a:ext cx="18573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0D47A1"/>
                </a:solidFill>
              </a:rPr>
              <a:t>Kaggle OHLCV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2057400"/>
            <a:ext cx="1857328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BTC (2010-2024) &amp; ETH (2015-2024)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828" y="3933824"/>
            <a:ext cx="2552636" cy="1009649"/>
          </a:xfrm>
          <a:prstGeom prst="roundRect">
            <a:avLst>
              <a:gd name="adj" fmla="val 754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24044" y="4372608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323" y="4350066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5264" y="4076699"/>
            <a:ext cx="18573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0D47A1"/>
                </a:solidFill>
              </a:rPr>
              <a:t>Google News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5264" y="4362449"/>
            <a:ext cx="1857328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Headlines &amp; sentiment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781300"/>
            <a:ext cx="2552636" cy="1009649"/>
          </a:xfrm>
          <a:prstGeom prst="roundRect">
            <a:avLst>
              <a:gd name="adj" fmla="val 754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27949" y="3220084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03" y="3223259"/>
            <a:ext cx="228594" cy="1257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19169" y="2924175"/>
            <a:ext cx="18573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0D47A1"/>
                </a:solidFill>
              </a:rPr>
              <a:t>Google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169" y="3209925"/>
            <a:ext cx="1857328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Search interest in crypto terms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828" y="5086349"/>
            <a:ext cx="2552636" cy="1009649"/>
          </a:xfrm>
          <a:prstGeom prst="roundRect">
            <a:avLst>
              <a:gd name="adj" fmla="val 7547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24044" y="5525133"/>
            <a:ext cx="10096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323" y="5522594"/>
            <a:ext cx="228594" cy="13715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5264" y="5333999"/>
            <a:ext cx="18573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0D47A1"/>
                </a:solidFill>
              </a:rPr>
              <a:t>Yahoo 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5264" y="5619749"/>
            <a:ext cx="185732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S&amp;P 500, VIX, Gold prices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8862" y="1135523"/>
            <a:ext cx="5026953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 dirty="0">
                <a:solidFill>
                  <a:srgbClr val="0D47A1"/>
                </a:solidFill>
              </a:rPr>
              <a:t> </a:t>
            </a:r>
            <a:r>
              <a:rPr sz="1104" dirty="0"/>
              <a:t>  </a:t>
            </a:r>
            <a:r>
              <a:rPr sz="1674" b="1" dirty="0">
                <a:solidFill>
                  <a:srgbClr val="0D47A1"/>
                </a:solidFill>
              </a:rPr>
              <a:t> Feature Engineering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3439" y="1204435"/>
            <a:ext cx="228594" cy="220027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583439" y="1628774"/>
            <a:ext cx="2552636" cy="1619250"/>
          </a:xfrm>
          <a:prstGeom prst="roundRect">
            <a:avLst>
              <a:gd name="adj" fmla="val 9411"/>
            </a:avLst>
          </a:prstGeom>
          <a:solidFill>
            <a:srgbClr val="F5F7FA"/>
          </a:soli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3310" y="1809748"/>
            <a:ext cx="226689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D47A1"/>
                </a:solidFill>
              </a:rPr>
              <a:t> Price Features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6310" y="1880346"/>
            <a:ext cx="190495" cy="10645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26310" y="2143124"/>
            <a:ext cx="2266893" cy="9620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• Log returns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Volatility (7/30-day)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Moving averages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ATR &amp; RSI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9422" y="1628774"/>
            <a:ext cx="2552636" cy="1619250"/>
          </a:xfrm>
          <a:prstGeom prst="roundRect">
            <a:avLst>
              <a:gd name="adj" fmla="val 9411"/>
            </a:avLst>
          </a:prstGeom>
          <a:solidFill>
            <a:srgbClr val="F5F7FA"/>
          </a:soli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38234" y="1809748"/>
            <a:ext cx="226689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D47A1"/>
                </a:solidFill>
              </a:rPr>
              <a:t> Technical Indicators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21818" y="1863537"/>
            <a:ext cx="190495" cy="14007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21818" y="2143124"/>
            <a:ext cx="2266893" cy="9620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• MACD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Stochastic oscillator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Bollinger Bands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Williams %R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439" y="3390899"/>
            <a:ext cx="2552636" cy="1619250"/>
          </a:xfrm>
          <a:prstGeom prst="roundRect">
            <a:avLst>
              <a:gd name="adj" fmla="val 9411"/>
            </a:avLst>
          </a:prstGeom>
          <a:solidFill>
            <a:srgbClr val="F5F7FA"/>
          </a:soli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32143" y="3571874"/>
            <a:ext cx="226689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D47A1"/>
                </a:solidFill>
              </a:rPr>
              <a:t> Sentiment Features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26310" y="3610534"/>
            <a:ext cx="190495" cy="15127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26310" y="3905249"/>
            <a:ext cx="2266893" cy="9620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• News count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Title length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Sentiment scores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Sentiment variance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69422" y="3390899"/>
            <a:ext cx="2552636" cy="1619250"/>
          </a:xfrm>
          <a:prstGeom prst="roundRect">
            <a:avLst>
              <a:gd name="adj" fmla="val 9411"/>
            </a:avLst>
          </a:prstGeom>
          <a:solidFill>
            <a:srgbClr val="F5F7FA"/>
          </a:solidFill>
          <a:ln w="3302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48818" y="3571874"/>
            <a:ext cx="226689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D47A1"/>
                </a:solidFill>
              </a:rPr>
              <a:t> Trends &amp; Macro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421818" y="3632946"/>
            <a:ext cx="190495" cy="10645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421818" y="3905249"/>
            <a:ext cx="2266893" cy="9620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• Search velocity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Z-score transforms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Macro returns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• Volume indicators </a:t>
            </a:r>
          </a:p>
        </p:txBody>
      </p:sp>
    </p:spTree>
    <p:extLst>
      <p:ext uri="{BB962C8B-B14F-4D97-AF65-F5344CB8AC3E}">
        <p14:creationId xmlns:p14="http://schemas.microsoft.com/office/powerpoint/2010/main" val="309905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Model Architectures: Comparative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2524061" cy="2886075"/>
          </a:xfrm>
          <a:prstGeom prst="roundRect">
            <a:avLst>
              <a:gd name="adj" fmla="val 603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710264" y="2519997"/>
            <a:ext cx="28860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2647" y="1354574"/>
            <a:ext cx="2062635" cy="33162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 dirty="0">
                <a:solidFill>
                  <a:srgbClr val="0D47A1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D47A1"/>
                </a:solidFill>
              </a:rPr>
              <a:t> MLP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0981" y="1420800"/>
            <a:ext cx="228594" cy="1885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899" y="1638299"/>
            <a:ext cx="2104972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Feedforward neural network with batch normalization and dropout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3726" y="2587993"/>
            <a:ext cx="2104972" cy="657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 dirty="0">
                <a:solidFill>
                  <a:srgbClr val="546E7A"/>
                </a:solidFill>
              </a:rPr>
              <a:t> Architecture: 128→64→32→16</a:t>
            </a:r>
            <a:r>
              <a:rPr sz="1104" dirty="0"/>
              <a:t>
</a:t>
            </a:r>
            <a:r>
              <a:rPr sz="1076" b="0" dirty="0">
                <a:solidFill>
                  <a:srgbClr val="546E7A"/>
                </a:solidFill>
              </a:rPr>
              <a:t> </a:t>
            </a:r>
            <a:r>
              <a:rPr sz="1076" b="1" dirty="0">
                <a:solidFill>
                  <a:srgbClr val="0D47A1"/>
                </a:solidFill>
              </a:rPr>
              <a:t>Best performing model</a:t>
            </a:r>
            <a:r>
              <a:rPr sz="1076" b="0" dirty="0">
                <a:solidFill>
                  <a:srgbClr val="546E7A"/>
                </a:solidFill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290" y="1143000"/>
            <a:ext cx="2524061" cy="2886075"/>
          </a:xfrm>
          <a:prstGeom prst="roundRect">
            <a:avLst>
              <a:gd name="adj" fmla="val 603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2004293" y="2519997"/>
            <a:ext cx="28860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00384" y="1333500"/>
            <a:ext cx="210497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D47A1"/>
                </a:solidFill>
              </a:rPr>
              <a:t> LSTM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884" y="1423035"/>
            <a:ext cx="228594" cy="1257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09884" y="1712923"/>
            <a:ext cx="2104972" cy="55560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2C3E50"/>
                </a:solidFill>
              </a:rPr>
              <a:t>Single-layer recurrent network with 64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884" y="2352675"/>
            <a:ext cx="2104972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 Sequence length: 30-60 days</a:t>
            </a:r>
            <a:r>
              <a:rPr sz="1104"/>
              <a:t>
</a:t>
            </a:r>
            <a:r>
              <a:rPr sz="1076" b="0">
                <a:solidFill>
                  <a:srgbClr val="546E7A"/>
                </a:solidFill>
              </a:rPr>
              <a:t> Dropout for regularization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19575"/>
            <a:ext cx="2524061" cy="205740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295927" y="5182235"/>
            <a:ext cx="2057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6993" y="4410074"/>
            <a:ext cx="210497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D47A1"/>
                </a:solidFill>
              </a:rPr>
              <a:t> LSTM-Deep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27" y="4470082"/>
            <a:ext cx="228594" cy="1657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5327" y="4800600"/>
            <a:ext cx="210497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Stacked LSTM with two layers (128→64 units)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27" y="5429250"/>
            <a:ext cx="2104972" cy="657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 dirty="0">
                <a:solidFill>
                  <a:srgbClr val="546E7A"/>
                </a:solidFill>
              </a:rPr>
              <a:t> More complex sequential modeling</a:t>
            </a:r>
            <a:r>
              <a:rPr sz="1104" dirty="0"/>
              <a:t>
</a:t>
            </a:r>
            <a:r>
              <a:rPr sz="1076" b="0" dirty="0">
                <a:solidFill>
                  <a:srgbClr val="546E7A"/>
                </a:solidFill>
              </a:rPr>
              <a:t> Higher parameter count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1290" y="4219575"/>
            <a:ext cx="2524061" cy="2057400"/>
          </a:xfrm>
          <a:prstGeom prst="roundRect">
            <a:avLst>
              <a:gd name="adj" fmla="val 74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2418630" y="5182235"/>
            <a:ext cx="2057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79217" y="4410074"/>
            <a:ext cx="210497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D47A1"/>
                </a:solidFill>
              </a:rPr>
              <a:t> CNN-LSTM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9884" y="445579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09884" y="4800600"/>
            <a:ext cx="210497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Hybrid architecture with convolutional filtering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9884" y="5429250"/>
            <a:ext cx="2104972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 Causal Conv1D (3 &amp; 5 filters)</a:t>
            </a:r>
            <a:r>
              <a:rPr sz="1104"/>
              <a:t>
</a:t>
            </a:r>
            <a:r>
              <a:rPr sz="1076" b="0">
                <a:solidFill>
                  <a:srgbClr val="546E7A"/>
                </a:solidFill>
              </a:rPr>
              <a:t> Max pooling → LSTM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5862" y="1142999"/>
            <a:ext cx="5238619" cy="1571625"/>
          </a:xfrm>
          <a:prstGeom prst="roundRect">
            <a:avLst>
              <a:gd name="adj" fmla="val 9696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756090" y="1862771"/>
            <a:ext cx="1571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16123" y="1333500"/>
            <a:ext cx="4819529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D47A1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D47A1"/>
                </a:solidFill>
              </a:rPr>
              <a:t> Key Finding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4456" y="1379219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04456" y="1724025"/>
            <a:ext cx="4819529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Simpler architectures (MLP &amp; CNN-LSTM) consistently outperformed more complex models (LSTM-Deep &amp; Transformer) across all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3103156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D5A4F-339E-F471-3D5A-152AFE67E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62E87F-5C68-6040-96E8-B6DD01642ABB}"/>
              </a:ext>
            </a:extLst>
          </p:cNvPr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786DA-644A-BB38-4594-BC731F7546B9}"/>
              </a:ext>
            </a:extLst>
          </p:cNvPr>
          <p:cNvSpPr txBox="1"/>
          <p:nvPr/>
        </p:nvSpPr>
        <p:spPr>
          <a:xfrm>
            <a:off x="666733" y="192405"/>
            <a:ext cx="5753691" cy="4724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50" dirty="0">
                <a:solidFill>
                  <a:srgbClr val="FFFFFF"/>
                </a:solidFill>
              </a:rPr>
              <a:t>Regression Results – MLP (Best Performing)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BCDB57F-CA98-0C87-08E7-353C253AB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216249"/>
            <a:ext cx="10453688" cy="504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1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2405"/>
            <a:ext cx="6865790" cy="47243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50" dirty="0">
                <a:solidFill>
                  <a:srgbClr val="FFFFFF"/>
                </a:solidFill>
                <a:ea typeface="+mn-lt"/>
                <a:cs typeface="+mn-lt"/>
              </a:rPr>
              <a:t>Regression Learning Curves – Loss and MAE for MLP</a:t>
            </a:r>
            <a:endParaRPr lang="en-US" dirty="0"/>
          </a:p>
        </p:txBody>
      </p:sp>
      <p:pic>
        <p:nvPicPr>
          <p:cNvPr id="32" name="Picture 31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61BE802C-8659-8FB9-34AA-538C98E65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91" y="1905000"/>
            <a:ext cx="5238019" cy="3417095"/>
          </a:xfrm>
          <a:prstGeom prst="rect">
            <a:avLst/>
          </a:prstGeom>
        </p:spPr>
      </p:pic>
      <p:pic>
        <p:nvPicPr>
          <p:cNvPr id="34" name="Picture 33" descr="A graph of a line graph&#10;&#10;AI-generated content may be incorrect.">
            <a:extLst>
              <a:ext uri="{FF2B5EF4-FFF2-40B4-BE49-F238E27FC236}">
                <a16:creationId xmlns:a16="http://schemas.microsoft.com/office/drawing/2014/main" id="{FBABA87B-3FDA-BDB3-39EF-0CC486849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910" y="1905000"/>
            <a:ext cx="5273802" cy="341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2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02ECC-6E0A-E49E-1E93-B2EC71135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0317D2-D9FD-6076-3432-ECE7B085714B}"/>
              </a:ext>
            </a:extLst>
          </p:cNvPr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6B5177-A9A7-482E-3EF8-41B545C407FC}"/>
              </a:ext>
            </a:extLst>
          </p:cNvPr>
          <p:cNvSpPr txBox="1"/>
          <p:nvPr/>
        </p:nvSpPr>
        <p:spPr>
          <a:xfrm>
            <a:off x="666733" y="188558"/>
            <a:ext cx="5360891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Cross Validation Summary - Regression</a:t>
            </a: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4" name="Picture 3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A5BF033A-34DC-04EB-6739-33E3636AB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329" y="1768475"/>
            <a:ext cx="6035675" cy="3162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179176-F6F7-9534-9A0D-F2A045AF4AE7}"/>
              </a:ext>
            </a:extLst>
          </p:cNvPr>
          <p:cNvSpPr txBox="1"/>
          <p:nvPr/>
        </p:nvSpPr>
        <p:spPr>
          <a:xfrm>
            <a:off x="809625" y="2198687"/>
            <a:ext cx="408781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rgbClr val="2B48A1"/>
                </a:solidFill>
              </a:rPr>
              <a:t>Consistency across three temporal folds</a:t>
            </a:r>
            <a:endParaRPr lang="en-US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 dirty="0">
                <a:solidFill>
                  <a:srgbClr val="2B48A1"/>
                </a:solidFill>
              </a:rPr>
              <a:t>BTC MAE drops from 3693 to 2045 </a:t>
            </a:r>
            <a:r>
              <a:rPr lang="en-US">
                <a:solidFill>
                  <a:srgbClr val="2B48A1"/>
                </a:solidFill>
              </a:rPr>
              <a:t>across splits</a:t>
            </a: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</a:rPr>
              <a:t>ETH RMSE stable in the 200 to 350 range</a:t>
            </a:r>
            <a:endParaRPr lang="en-US" dirty="0">
              <a:solidFill>
                <a:srgbClr val="2B48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89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9361B-2D0D-B203-6A99-053FA1E8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F5F986-FC7B-45B7-02D5-C0A5970FD189}"/>
              </a:ext>
            </a:extLst>
          </p:cNvPr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A19EA-03F0-BA4D-9A8E-B0C59901E039}"/>
              </a:ext>
            </a:extLst>
          </p:cNvPr>
          <p:cNvSpPr txBox="1"/>
          <p:nvPr/>
        </p:nvSpPr>
        <p:spPr>
          <a:xfrm>
            <a:off x="666733" y="188558"/>
            <a:ext cx="6644255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400">
                <a:solidFill>
                  <a:srgbClr val="FFFFFF"/>
                </a:solidFill>
                <a:ea typeface="+mn-lt"/>
                <a:cs typeface="+mn-lt"/>
              </a:rPr>
              <a:t>Classification Results: Equity Curves (BTC &amp; ETH)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32AFD-2452-2460-F9ED-1D3132482AF5}"/>
              </a:ext>
            </a:extLst>
          </p:cNvPr>
          <p:cNvSpPr txBox="1"/>
          <p:nvPr/>
        </p:nvSpPr>
        <p:spPr>
          <a:xfrm>
            <a:off x="809625" y="2198687"/>
            <a:ext cx="408781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MLP generates stable and profitable signals.</a:t>
            </a:r>
            <a:endParaRPr lang="en-US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Outperforms buy and hold in all time windows.</a:t>
            </a: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Sharpe ratios between 2.0 and 4.0.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LSTM and CNN LSTM moderate performance.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Transformer classification weaker than baselines.</a:t>
            </a:r>
            <a:endParaRPr lang="en-US" dirty="0">
              <a:solidFill>
                <a:srgbClr val="2B48A1"/>
              </a:solidFill>
            </a:endParaRPr>
          </a:p>
        </p:txBody>
      </p:sp>
      <p:pic>
        <p:nvPicPr>
          <p:cNvPr id="6" name="Picture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2059005-8C45-D4AF-DD14-42BE9BE8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52" y="857250"/>
            <a:ext cx="4836996" cy="2846917"/>
          </a:xfrm>
          <a:prstGeom prst="rect">
            <a:avLst/>
          </a:prstGeom>
        </p:spPr>
      </p:pic>
      <p:pic>
        <p:nvPicPr>
          <p:cNvPr id="7" name="Picture 6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C835CF97-9817-C28F-E237-15E3E5B1C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777" y="3989916"/>
            <a:ext cx="4855111" cy="286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3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1B5B2-B5F6-7971-0A1C-23DA692B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78F671-8411-EE02-A724-43E56977123E}"/>
              </a:ext>
            </a:extLst>
          </p:cNvPr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B4381-4CAC-9AC0-0C0E-A5320776D65D}"/>
              </a:ext>
            </a:extLst>
          </p:cNvPr>
          <p:cNvSpPr txBox="1"/>
          <p:nvPr/>
        </p:nvSpPr>
        <p:spPr>
          <a:xfrm>
            <a:off x="666733" y="188558"/>
            <a:ext cx="4186852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400">
                <a:solidFill>
                  <a:srgbClr val="FFFFFF"/>
                </a:solidFill>
                <a:ea typeface="+mn-lt"/>
                <a:cs typeface="+mn-lt"/>
              </a:rPr>
              <a:t>Classification Learning Curves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742B7-1C4C-1E17-7B9F-CF00C0D09CA4}"/>
              </a:ext>
            </a:extLst>
          </p:cNvPr>
          <p:cNvSpPr txBox="1"/>
          <p:nvPr/>
        </p:nvSpPr>
        <p:spPr>
          <a:xfrm>
            <a:off x="809625" y="2198687"/>
            <a:ext cx="408781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AUC and accuracy improve steadily across epochs.</a:t>
            </a: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Validation metrics closely follow training metrics.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Indicates strong generalization.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51615C-B9B1-550D-3572-ADF48761D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406" y="857250"/>
            <a:ext cx="4436854" cy="2878667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FC76AED-3CCF-CDAF-6515-34B8DE8FE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449" y="3968749"/>
            <a:ext cx="4440768" cy="288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21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39BC9-2F0A-E55C-C502-3A7725D3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D9418D-2937-30A0-4369-91DBA6A60660}"/>
              </a:ext>
            </a:extLst>
          </p:cNvPr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3CEDF-6B2A-351D-D80E-83AA62ACE23B}"/>
              </a:ext>
            </a:extLst>
          </p:cNvPr>
          <p:cNvSpPr txBox="1"/>
          <p:nvPr/>
        </p:nvSpPr>
        <p:spPr>
          <a:xfrm>
            <a:off x="666733" y="188558"/>
            <a:ext cx="5749587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400">
                <a:solidFill>
                  <a:srgbClr val="FFFFFF"/>
                </a:solidFill>
                <a:ea typeface="+mn-lt"/>
                <a:cs typeface="+mn-lt"/>
              </a:rPr>
              <a:t>Classification - Overall Model Comparison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76FF8-2FE3-E267-B40E-472EBB471713}"/>
              </a:ext>
            </a:extLst>
          </p:cNvPr>
          <p:cNvSpPr txBox="1"/>
          <p:nvPr/>
        </p:nvSpPr>
        <p:spPr>
          <a:xfrm>
            <a:off x="661458" y="2198687"/>
            <a:ext cx="408781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MLP is the strongest performer across all tasks.</a:t>
            </a: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CNN LSTM performs well in volatile regimes.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Transformers underperform due to data density and horizon mismatch.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Consistent across all folds and metrics.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</p:txBody>
      </p:sp>
      <p:pic>
        <p:nvPicPr>
          <p:cNvPr id="6" name="Picture 5" descr="A screenshot of a data table&#10;&#10;AI-generated content may be incorrect.">
            <a:extLst>
              <a:ext uri="{FF2B5EF4-FFF2-40B4-BE49-F238E27FC236}">
                <a16:creationId xmlns:a16="http://schemas.microsoft.com/office/drawing/2014/main" id="{84262FA2-AED8-F7E1-7447-E83694F12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745" y="1132417"/>
            <a:ext cx="7299427" cy="49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AA164-8214-8D65-6CA3-79021D95A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491A21-20D3-4D4C-1F9C-B0327D0D159E}"/>
              </a:ext>
            </a:extLst>
          </p:cNvPr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7B6FF-AB2E-6F0D-2BAF-1AFB572D4B96}"/>
              </a:ext>
            </a:extLst>
          </p:cNvPr>
          <p:cNvSpPr txBox="1"/>
          <p:nvPr/>
        </p:nvSpPr>
        <p:spPr>
          <a:xfrm>
            <a:off x="666733" y="188558"/>
            <a:ext cx="3178306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400">
                <a:solidFill>
                  <a:srgbClr val="FFFFFF"/>
                </a:solidFill>
                <a:ea typeface="+mn-lt"/>
                <a:cs typeface="+mn-lt"/>
              </a:rPr>
              <a:t>Ablation Study Insights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0A054-BE43-C662-F1DB-D123CB079948}"/>
              </a:ext>
            </a:extLst>
          </p:cNvPr>
          <p:cNvSpPr txBox="1"/>
          <p:nvPr/>
        </p:nvSpPr>
        <p:spPr>
          <a:xfrm>
            <a:off x="661458" y="1457854"/>
            <a:ext cx="997214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Architectural choice matters more than feature choice.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Transformers add complexity without performance gains.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Local extrema classification is harder than direction prediction.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Multimodal features help stabilize performance.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4895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FC628-6310-B43D-1A1C-A6DB7E94F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CE22E8-147B-BE34-4B82-550ECD732677}"/>
              </a:ext>
            </a:extLst>
          </p:cNvPr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02006-7E32-837B-A228-5A90DA91C04F}"/>
              </a:ext>
            </a:extLst>
          </p:cNvPr>
          <p:cNvSpPr txBox="1"/>
          <p:nvPr/>
        </p:nvSpPr>
        <p:spPr>
          <a:xfrm>
            <a:off x="666733" y="188558"/>
            <a:ext cx="3291350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400">
                <a:solidFill>
                  <a:srgbClr val="FFFFFF"/>
                </a:solidFill>
                <a:ea typeface="+mn-lt"/>
                <a:cs typeface="+mn-lt"/>
              </a:rPr>
              <a:t>Extended Contributions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343DB-C7E2-9E0C-25A7-DAFD8640C650}"/>
              </a:ext>
            </a:extLst>
          </p:cNvPr>
          <p:cNvSpPr txBox="1"/>
          <p:nvPr/>
        </p:nvSpPr>
        <p:spPr>
          <a:xfrm>
            <a:off x="661458" y="1457854"/>
            <a:ext cx="997214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Fully reproducible pipeline (no paid APIs).</a:t>
            </a: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Comprehensive multimodal dataset.</a:t>
            </a: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Transparent comparison across major architectures.</a:t>
            </a: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Trading performance analysis (not just accuracy).</a:t>
            </a: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Clarifies when complex architectures are unnecessary.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3406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8EE0B-A44F-D1EE-15FF-40AEA718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0734AE-4CE9-25B6-4BB6-70872A9C4337}"/>
              </a:ext>
            </a:extLst>
          </p:cNvPr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267AF-CCBE-6C6C-F64F-ED41283246F4}"/>
              </a:ext>
            </a:extLst>
          </p:cNvPr>
          <p:cNvSpPr txBox="1"/>
          <p:nvPr/>
        </p:nvSpPr>
        <p:spPr>
          <a:xfrm>
            <a:off x="666733" y="188558"/>
            <a:ext cx="3922228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400">
                <a:solidFill>
                  <a:srgbClr val="FFFFFF"/>
                </a:solidFill>
                <a:ea typeface="+mn-lt"/>
                <a:cs typeface="+mn-lt"/>
              </a:rPr>
              <a:t>Conclusion and Future Work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1A601-D2F4-EF86-5947-017B31BAF69E}"/>
              </a:ext>
            </a:extLst>
          </p:cNvPr>
          <p:cNvSpPr txBox="1"/>
          <p:nvPr/>
        </p:nvSpPr>
        <p:spPr>
          <a:xfrm>
            <a:off x="661458" y="1457854"/>
            <a:ext cx="997214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MLP and CNN LSTM outperform transformers for short horizon forecasting.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Feature stability and careful preprocessing matter more than model depth.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Future work: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regime based modeling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hybrid transformers with CNN encoders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intraday data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2B48A1"/>
                </a:solidFill>
                <a:ea typeface="+mn-lt"/>
                <a:cs typeface="+mn-lt"/>
              </a:rPr>
              <a:t>improved backtesting (slippage, costs)</a:t>
            </a:r>
            <a:endParaRPr lang="en-US" dirty="0">
              <a:solidFill>
                <a:srgbClr val="2B48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2522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8A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998BD-6E7E-9558-3BF1-4494BB1A8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FE39A2-3345-BE7E-160B-1DF0B5B5584D}"/>
              </a:ext>
            </a:extLst>
          </p:cNvPr>
          <p:cNvSpPr txBox="1"/>
          <p:nvPr/>
        </p:nvSpPr>
        <p:spPr>
          <a:xfrm>
            <a:off x="2143125" y="1404937"/>
            <a:ext cx="7631906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600">
                <a:solidFill>
                  <a:schemeClr val="bg1"/>
                </a:solidFill>
              </a:rPr>
              <a:t>Q&amp;A</a:t>
            </a:r>
            <a:endParaRPr lang="en-US">
              <a:solidFill>
                <a:srgbClr val="000000"/>
              </a:solidFill>
            </a:endParaRPr>
          </a:p>
          <a:p>
            <a:pPr algn="ctr"/>
            <a:endParaRPr lang="en-US" sz="9600" dirty="0">
              <a:solidFill>
                <a:schemeClr val="bg1"/>
              </a:solidFill>
            </a:endParaRPr>
          </a:p>
          <a:p>
            <a:pPr algn="ctr"/>
            <a:r>
              <a:rPr lang="en-US" sz="3200">
                <a:solidFill>
                  <a:schemeClr val="bg1"/>
                </a:solidFill>
              </a:rPr>
              <a:t>Thank you for listening!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074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208</cp:revision>
  <dcterms:created xsi:type="dcterms:W3CDTF">2025-11-24T13:28:55Z</dcterms:created>
  <dcterms:modified xsi:type="dcterms:W3CDTF">2025-11-24T14:15:13Z</dcterms:modified>
</cp:coreProperties>
</file>